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4"/>
      <p:bold r:id="rId15"/>
    </p:embeddedFont>
    <p:embeddedFont>
      <p:font typeface="Unbounded Bold" panose="020B0604020202020204" charset="0"/>
      <p:regular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37C9E-26C5-4325-91DA-12F7059F6364}" v="1" dt="2026-05-25T23:26:1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19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47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Análise do Cenário de Crédito Brasileiro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8334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em dados do BNDES para apoio à tomada de decisão empresarial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01206"/>
            <a:ext cx="1186681" cy="266402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010174" y="3143696"/>
            <a:ext cx="147377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CIÊNCIA DE DADOS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182642" y="3096444"/>
            <a:ext cx="193335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26A6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272460" y="3143696"/>
            <a:ext cx="22109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RISCO &amp; ESTRATÉGIA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25119" y="35318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[Luana, Felipe, Gabrielle e Jaques]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Aplicado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II</a:t>
            </a:r>
            <a:endParaRPr lang="en-US" sz="110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36929BD-B4A7-F199-2F40-6C049F23BFFF}"/>
              </a:ext>
            </a:extLst>
          </p:cNvPr>
          <p:cNvSpPr/>
          <p:nvPr/>
        </p:nvSpPr>
        <p:spPr>
          <a:xfrm>
            <a:off x="8024678" y="4831080"/>
            <a:ext cx="1119322" cy="302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398041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 Crédito Como Motor da Economia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2901" y="1435819"/>
            <a:ext cx="476919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Empresas brasileiras enfrentam um dilema constante: </a:t>
            </a: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expandir ou agir com cautela?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ausência de leitura estratégica do cenário macroeconômico gera decisões mal orientadas, com impactos diretos na sustentabilidade dos negócios.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2901" y="2425154"/>
            <a:ext cx="2320230" cy="1201341"/>
          </a:xfrm>
          <a:prstGeom prst="roundRect">
            <a:avLst>
              <a:gd name="adj" fmla="val 47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12725" y="256497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725" y="2853333"/>
            <a:ext cx="204058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sem embasamento em dados geram risco e perda de competitividade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2425154"/>
            <a:ext cx="2320230" cy="1201341"/>
          </a:xfrm>
          <a:prstGeom prst="roundRect">
            <a:avLst>
              <a:gd name="adj" fmla="val 47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061692" y="256497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 Impacto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61692" y="2853333"/>
            <a:ext cx="2040582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Expansões prematuras ou retrações desnecessárias comprometem resultados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901" y="3755231"/>
            <a:ext cx="4769197" cy="990228"/>
          </a:xfrm>
          <a:prstGeom prst="roundRect">
            <a:avLst>
              <a:gd name="adj" fmla="val 5731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12725" y="389505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Oportunidade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725" y="4183410"/>
            <a:ext cx="44895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históricos do BNDES revelam padrões que orientam escolhas mais seguras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520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Setores Estratégicos Dependentes do Crédito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201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Três setores concentram a maior demanda por financiamento estruturado no Brasil — e são os mais sensíveis às oscilações do cenário econômico.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415108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5239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Comércio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8304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de giro e expansão de redes dependem diretamente de linhas de crédito acessíveis e previsíveis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415108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5239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Construção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8304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Ciclos longos de investimento exigem financiamento de longo prazo e planejamento financeiro rigoroso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415108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5239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Agronegócio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8304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Sazonalidade e escala produtiva tornam o crédito rural indispensável para a competitividade do setor</a:t>
            </a:r>
            <a:endParaRPr lang="en-US" sz="11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DAEF687-5BCB-EC65-513E-E7B3194649A8}"/>
              </a:ext>
            </a:extLst>
          </p:cNvPr>
          <p:cNvSpPr/>
          <p:nvPr/>
        </p:nvSpPr>
        <p:spPr>
          <a:xfrm>
            <a:off x="8024678" y="4831080"/>
            <a:ext cx="1119322" cy="302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64852"/>
            <a:ext cx="568568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Objetivo &amp; Base de Dados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74390"/>
            <a:ext cx="304145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 Que Este Projeto Busca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313" y="1420527"/>
            <a:ext cx="196007" cy="1960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030" y="1414016"/>
            <a:ext cx="353057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comportamento histórico do crédito no Brasil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313" y="2063167"/>
            <a:ext cx="196007" cy="1960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2030" y="2056656"/>
            <a:ext cx="353057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padrões financeiros e ciclos econômicos recorrentes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313" y="2705807"/>
            <a:ext cx="196007" cy="1960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2030" y="2699296"/>
            <a:ext cx="353057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Apoiar decisões estratégicas com dados reais e verificáveis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313" y="3348447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2030" y="3341936"/>
            <a:ext cx="353057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Construir modelo analítico baseado em dados do BNDES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4736157" y="1074390"/>
            <a:ext cx="217527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Base de Dados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736157" y="1398984"/>
            <a:ext cx="395525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de </a:t>
            </a: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anos de dados financeiros históricos</a:t>
            </a: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BNDES, abrangendo operações de crédito, desempenho financeiro e indicadores macroeconômicos — permitindo análise temporal robusta e identificação de tendências estruturais.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57349" y="4011513"/>
            <a:ext cx="4054376" cy="767135"/>
          </a:xfrm>
          <a:prstGeom prst="roundRect">
            <a:avLst>
              <a:gd name="adj" fmla="val 7155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602307" y="415647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20+ Anos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02307" y="4432846"/>
            <a:ext cx="376445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Série histórica completa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632201" y="4011513"/>
            <a:ext cx="4054450" cy="767135"/>
          </a:xfrm>
          <a:prstGeom prst="roundRect">
            <a:avLst>
              <a:gd name="adj" fmla="val 7155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/>
          <p:nvPr/>
        </p:nvSpPr>
        <p:spPr>
          <a:xfrm>
            <a:off x="4777160" y="415647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Dados Reais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777160" y="4432846"/>
            <a:ext cx="376453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Fontes oficiais BNDES</a:t>
            </a:r>
            <a:endParaRPr lang="en-US" sz="1000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87A951B-6E18-0B58-8F51-BAC285AE8810}"/>
              </a:ext>
            </a:extLst>
          </p:cNvPr>
          <p:cNvSpPr/>
          <p:nvPr/>
        </p:nvSpPr>
        <p:spPr>
          <a:xfrm>
            <a:off x="8024678" y="4831080"/>
            <a:ext cx="1119322" cy="302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17761"/>
            <a:ext cx="796595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Principais Descobertas da Análise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28564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revelou padrões consistentes no desempenho financeiro do BNDES ao longo de duas décadas.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504504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69329" y="1504504"/>
            <a:ext cx="76200" cy="1060475"/>
          </a:xfrm>
          <a:prstGeom prst="roundRect">
            <a:avLst>
              <a:gd name="adj" fmla="val 7691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04106" y="1663080"/>
            <a:ext cx="280712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Crescimento Consistente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106" y="1963489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Tendência de alta nos lucros ao longo do período analisado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0684" y="1504504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21634" y="1504504"/>
            <a:ext cx="76200" cy="1060475"/>
          </a:xfrm>
          <a:prstGeom prst="roundRect">
            <a:avLst>
              <a:gd name="adj" fmla="val 7691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56411" y="1663080"/>
            <a:ext cx="25989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Venda de Participações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56411" y="1963489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Ganhos extraordinários em períodos específicos de desinvestimento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8379" y="2702347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9329" y="2702347"/>
            <a:ext cx="76200" cy="1060475"/>
          </a:xfrm>
          <a:prstGeom prst="roundRect">
            <a:avLst>
              <a:gd name="adj" fmla="val 7691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04106" y="2860923"/>
            <a:ext cx="176830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Custos Internos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106" y="3161333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Variações nos custos operacionais influenciam diretamente os resultados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0684" y="2702347"/>
            <a:ext cx="4014936" cy="1060475"/>
          </a:xfrm>
          <a:prstGeom prst="roundRect">
            <a:avLst>
              <a:gd name="adj" fmla="val 862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21634" y="2702347"/>
            <a:ext cx="76200" cy="1060475"/>
          </a:xfrm>
          <a:prstGeom prst="roundRect">
            <a:avLst>
              <a:gd name="adj" fmla="val 7691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56411" y="2860923"/>
            <a:ext cx="254488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Estabilidade com Picos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56411" y="3161333"/>
            <a:ext cx="36406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Períodos estáveis intercalados por ganhos extraordinários pontuais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8379" y="3917305"/>
            <a:ext cx="8167241" cy="808434"/>
          </a:xfrm>
          <a:prstGeom prst="roundRect">
            <a:avLst>
              <a:gd name="adj" fmla="val 725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4131469"/>
            <a:ext cx="174427" cy="13952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41859" y="4089499"/>
            <a:ext cx="75742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 estratégico:</a:t>
            </a: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desempenho financeiro não depende apenas do volume de crédito — fatores estruturais e macroeconômicos são determinantes.</a:t>
            </a:r>
            <a:endParaRPr lang="en-US" sz="105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3EDC60E-C97C-317E-631F-0F1629BF7CD7}"/>
              </a:ext>
            </a:extLst>
          </p:cNvPr>
          <p:cNvSpPr/>
          <p:nvPr/>
        </p:nvSpPr>
        <p:spPr>
          <a:xfrm>
            <a:off x="8024678" y="4831080"/>
            <a:ext cx="1119322" cy="302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4562" y="304502"/>
            <a:ext cx="5063877" cy="58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Proposta de Solução &amp; Produto Gerado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754562" y="977503"/>
            <a:ext cx="5063877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</a:t>
            </a:r>
            <a:r>
              <a:rPr lang="en-US" sz="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análise de risco</a:t>
            </a: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baseado em dados reais do sistema de crédito brasileiro, materializado em um dashboard executivo com diagnóstico, tendências e recomendações práticas.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3754562" y="1292647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52342" y="1390427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9063" y="1467148"/>
            <a:ext cx="125537" cy="125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52342" y="1730499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52342" y="1912441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Leitura do ambiente de crédito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754562" y="2194471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3852342" y="2292251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9063" y="2368972"/>
            <a:ext cx="125537" cy="125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2342" y="263232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Tendências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852342" y="2814265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ciclos e padrões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3754562" y="3096295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3852342" y="3194075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9063" y="3270796"/>
            <a:ext cx="125537" cy="1255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52342" y="3534147"/>
            <a:ext cx="165809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Classificação de Risco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852342" y="3716089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Níveis de exposição por setor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754562" y="3998119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3852342" y="4095899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9063" y="4172620"/>
            <a:ext cx="125537" cy="1255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52342" y="4435971"/>
            <a:ext cx="122247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Recomendações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852342" y="4617913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Expandir, captar recursos ou adotar postura conservadora</a:t>
            </a:r>
            <a:endParaRPr lang="en-US" sz="700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E3F7E16-47FC-3308-2958-E1A8C48C7E6A}"/>
              </a:ext>
            </a:extLst>
          </p:cNvPr>
          <p:cNvSpPr/>
          <p:nvPr/>
        </p:nvSpPr>
        <p:spPr>
          <a:xfrm>
            <a:off x="8024678" y="4875534"/>
            <a:ext cx="1119322" cy="257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1070" y="344760"/>
            <a:ext cx="4149626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Benefícios da Solução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801070" y="796603"/>
            <a:ext cx="497085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Transformar dados em inteligência acionável reduz incertezas e eleva a qualidade das decisões estratégicas.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01070" y="1237059"/>
            <a:ext cx="2435572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20+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354339" y="170080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Anos de Dados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01070" y="1914674"/>
            <a:ext cx="24355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Série histórica completa do BNDES para análise robusta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336283" y="1237059"/>
            <a:ext cx="2435647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750" dirty="0"/>
          </a:p>
        </p:txBody>
      </p:sp>
      <p:sp>
        <p:nvSpPr>
          <p:cNvPr id="9" name="Text 6"/>
          <p:cNvSpPr/>
          <p:nvPr/>
        </p:nvSpPr>
        <p:spPr>
          <a:xfrm>
            <a:off x="6736928" y="1700808"/>
            <a:ext cx="163435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Setores Analisados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36283" y="1914674"/>
            <a:ext cx="243564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Comércio, Construção e Agronegócio com visão integrada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68639" y="2424931"/>
            <a:ext cx="2435647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750" dirty="0"/>
          </a:p>
        </p:txBody>
      </p:sp>
      <p:sp>
        <p:nvSpPr>
          <p:cNvPr id="12" name="Text 9"/>
          <p:cNvSpPr/>
          <p:nvPr/>
        </p:nvSpPr>
        <p:spPr>
          <a:xfrm>
            <a:off x="5587975" y="2888679"/>
            <a:ext cx="139697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Recomendações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68639" y="3102546"/>
            <a:ext cx="243564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Ações práticas baseadas em evidências e padrões reais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801070" y="3489871"/>
            <a:ext cx="4970859" cy="1308795"/>
          </a:xfrm>
          <a:prstGeom prst="roundRect">
            <a:avLst>
              <a:gd name="adj" fmla="val 341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3805833" y="3494633"/>
            <a:ext cx="2480667" cy="724049"/>
          </a:xfrm>
          <a:prstGeom prst="roundRect">
            <a:avLst>
              <a:gd name="adj" fmla="val 6168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912096" y="3600896"/>
            <a:ext cx="139928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Menos Incerteza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912096" y="3814763"/>
            <a:ext cx="226814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embasadas em dados históricos e padrões verificáveis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86500" y="3494633"/>
            <a:ext cx="2480667" cy="724049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286500" y="3494633"/>
            <a:ext cx="14288" cy="724049"/>
          </a:xfrm>
          <a:prstGeom prst="roundRect">
            <a:avLst>
              <a:gd name="adj" fmla="val 312547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392763" y="360089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Mais Precisão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92763" y="3814763"/>
            <a:ext cx="226814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risco e tendências de crédito em tempo real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805833" y="4218682"/>
            <a:ext cx="4961334" cy="575221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3805833" y="4218682"/>
            <a:ext cx="4961334" cy="14288"/>
          </a:xfrm>
          <a:prstGeom prst="roundRect">
            <a:avLst>
              <a:gd name="adj" fmla="val 312547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912096" y="4324945"/>
            <a:ext cx="195478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Vantagem Competitiva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912096" y="4538811"/>
            <a:ext cx="47488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de dados como diferencial estratégico sustentável</a:t>
            </a:r>
            <a:endParaRPr lang="en-US" sz="80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52D29C-B2EA-0D50-2BE7-E2A35B90FB56}"/>
              </a:ext>
            </a:extLst>
          </p:cNvPr>
          <p:cNvSpPr/>
          <p:nvPr/>
        </p:nvSpPr>
        <p:spPr>
          <a:xfrm>
            <a:off x="8024678" y="4831080"/>
            <a:ext cx="1119322" cy="302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9529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4518" y="1204094"/>
            <a:ext cx="801432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um cenário econômico dinâmico e incerto, decisões orientadas por dados deixam de ser diferencial competitivo e tornam-se </a:t>
            </a:r>
            <a:r>
              <a:rPr lang="en-US" sz="1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essenciais para a sustentabilidade e crescimento das empresas.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5162" y="1063972"/>
            <a:ext cx="14288" cy="692200"/>
          </a:xfrm>
          <a:prstGeom prst="rect">
            <a:avLst/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65162" y="2095649"/>
            <a:ext cx="2654796" cy="1173807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65162" y="2081361"/>
            <a:ext cx="2654796" cy="57150"/>
          </a:xfrm>
          <a:prstGeom prst="roundRect">
            <a:avLst>
              <a:gd name="adj" fmla="val 9767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593205" y="1896294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2788" y="2015877"/>
            <a:ext cx="159469" cy="1594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353" y="242790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Dados Reais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353" y="2710309"/>
            <a:ext cx="236041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de 20 anos de histórico do BNDES como fundamento analítico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4528" y="2095649"/>
            <a:ext cx="2654871" cy="1173807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244528" y="2081361"/>
            <a:ext cx="2654871" cy="57150"/>
          </a:xfrm>
          <a:prstGeom prst="roundRect">
            <a:avLst>
              <a:gd name="adj" fmla="val 9767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372570" y="1896294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2154" y="2015877"/>
            <a:ext cx="159469" cy="1594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1719" y="2427908"/>
            <a:ext cx="20696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Análise Estratégica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91719" y="2710309"/>
            <a:ext cx="236048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Padrões identificados que orientam escolhas mais seguras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23967" y="2095649"/>
            <a:ext cx="2654871" cy="1173807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023967" y="2081361"/>
            <a:ext cx="2654871" cy="57150"/>
          </a:xfrm>
          <a:prstGeom prst="roundRect">
            <a:avLst>
              <a:gd name="adj" fmla="val 97674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152010" y="1896294"/>
            <a:ext cx="398711" cy="398711"/>
          </a:xfrm>
          <a:prstGeom prst="roundRect">
            <a:avLst>
              <a:gd name="adj" fmla="val 143337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1593" y="2015877"/>
            <a:ext cx="159469" cy="1594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1158" y="2427908"/>
            <a:ext cx="200359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Decisão Informada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1158" y="2710309"/>
            <a:ext cx="236048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que transforma incerteza em inteligência acionável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5162" y="3442767"/>
            <a:ext cx="8213675" cy="989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465162" y="3672706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Obrigado</a:t>
            </a:r>
            <a:endParaRPr lang="en-US" sz="205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132D80A-B646-38DC-297D-E22BB3B37B3A}"/>
              </a:ext>
            </a:extLst>
          </p:cNvPr>
          <p:cNvSpPr/>
          <p:nvPr/>
        </p:nvSpPr>
        <p:spPr>
          <a:xfrm>
            <a:off x="8024678" y="4831080"/>
            <a:ext cx="1119322" cy="302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4E20761-5AD4-8663-4BEA-9BB6300A9451}"/>
              </a:ext>
            </a:extLst>
          </p:cNvPr>
          <p:cNvSpPr/>
          <p:nvPr/>
        </p:nvSpPr>
        <p:spPr>
          <a:xfrm>
            <a:off x="473349" y="419970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[Luana, Felipe, Gabrielle e Jaques]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Projeto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Aplicado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16004733722DB44810C512462DDFA42" ma:contentTypeVersion="14" ma:contentTypeDescription="Crie um novo documento." ma:contentTypeScope="" ma:versionID="2ed10399aea6645c527a7e7ddea56aae">
  <xsd:schema xmlns:xsd="http://www.w3.org/2001/XMLSchema" xmlns:xs="http://www.w3.org/2001/XMLSchema" xmlns:p="http://schemas.microsoft.com/office/2006/metadata/properties" xmlns:ns3="68a5d67e-9600-4ee1-ad16-e90d692e32fb" xmlns:ns4="5dc14a04-0e6d-4325-a5f5-a5858a605edc" targetNamespace="http://schemas.microsoft.com/office/2006/metadata/properties" ma:root="true" ma:fieldsID="9b8e733c1d23ae669b52b34eafee5f86" ns3:_="" ns4:_="">
    <xsd:import namespace="68a5d67e-9600-4ee1-ad16-e90d692e32fb"/>
    <xsd:import namespace="5dc14a04-0e6d-4325-a5f5-a5858a605e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Details" minOccurs="0"/>
                <xsd:element ref="ns4:SharedWithUser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a5d67e-9600-4ee1-ad16-e90d692e32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c14a04-0e6d-4325-a5f5-a5858a605edc" elementFormDefault="qualified">
    <xsd:import namespace="http://schemas.microsoft.com/office/2006/documentManagement/types"/>
    <xsd:import namespace="http://schemas.microsoft.com/office/infopath/2007/PartnerControls"/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5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a5d67e-9600-4ee1-ad16-e90d692e32fb" xsi:nil="true"/>
  </documentManagement>
</p:properties>
</file>

<file path=customXml/itemProps1.xml><?xml version="1.0" encoding="utf-8"?>
<ds:datastoreItem xmlns:ds="http://schemas.openxmlformats.org/officeDocument/2006/customXml" ds:itemID="{6795E9D9-1804-4163-BFD4-97BB4CE2A9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a5d67e-9600-4ee1-ad16-e90d692e32fb"/>
    <ds:schemaRef ds:uri="5dc14a04-0e6d-4325-a5f5-a5858a605e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4F632B-C2D6-430C-9C41-16D5E670C0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C10139-ED06-43B4-A8EF-EA7F467134FF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5dc14a04-0e6d-4325-a5f5-a5858a605edc"/>
    <ds:schemaRef ds:uri="http://schemas.microsoft.com/office/2006/metadata/properties"/>
    <ds:schemaRef ds:uri="http://schemas.microsoft.com/office/2006/documentManagement/types"/>
    <ds:schemaRef ds:uri="68a5d67e-9600-4ee1-ad16-e90d692e32fb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589</Words>
  <Application>Microsoft Office PowerPoint</Application>
  <PresentationFormat>Apresentação na tela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Open Sans</vt:lpstr>
      <vt:lpstr>Unbounded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LUANA ISABELLA XAVIER PORTO</dc:creator>
  <cp:lastModifiedBy>LUANA ISABELLA XAVIER PORTO</cp:lastModifiedBy>
  <cp:revision>3</cp:revision>
  <dcterms:created xsi:type="dcterms:W3CDTF">2026-05-25T23:04:49Z</dcterms:created>
  <dcterms:modified xsi:type="dcterms:W3CDTF">2026-05-25T23:26:17Z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0x010100F16004733722DB44810C512462DDFA42</vt:lpwstr>
  </property>
</Properties>
</file>